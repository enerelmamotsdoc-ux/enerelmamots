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3A"/>
          </a:solidFill>
          <a:ln w="12700">
            <a:solidFill>
              <a:srgbClr val="143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80467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эрсдэлийг үнэлэх,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түүнээс урьдчилан сэргийлэх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3232" y="2487168"/>
            <a:ext cx="1371600" cy="0"/>
          </a:xfrm>
          <a:prstGeom prst="line">
            <a:avLst/>
          </a:prstGeom>
          <a:noFill/>
          <a:ln w="635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81635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 | танилцуулах, мэдлэг олгох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60167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ЭМЭ-БМ-02 ТҮЖ 20:2023-02 | 2-р хэвлэл | Өөрчилсөн огноо: 2023.05.01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rot="2700000">
            <a:off x="9253728" y="960120"/>
            <a:ext cx="1615745" cy="2189074"/>
          </a:xfrm>
          <a:prstGeom prst="teardrop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920000">
            <a:off x="9748876" y="1377086"/>
            <a:ext cx="938174" cy="1146658"/>
          </a:xfrm>
          <a:prstGeom prst="arc">
            <a:avLst/>
          </a:prstGeom>
          <a:noFill/>
          <a:ln w="13970">
            <a:solidFill>
              <a:srgbClr val="143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6016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Энэрэл-МАМОЦ эмнэлэг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зорилго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Ажилчдад журмын үндсэн агуулга, хэрэглэх нөхцөл, баримтжуулалтын ойлголтыг нэг мөрөөр танилцуулна.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96112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1828800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зорилго, хамрах хүрээ, үндэслэлийг ойлгох</a:t>
            </a:r>
            <a:endParaRPr lang="en-US" sz="1720" dirty="0"/>
          </a:p>
        </p:txBody>
      </p:sp>
      <p:sp>
        <p:nvSpPr>
          <p:cNvPr id="8" name="Shape 6"/>
          <p:cNvSpPr/>
          <p:nvPr/>
        </p:nvSpPr>
        <p:spPr>
          <a:xfrm>
            <a:off x="896112" y="24688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414016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эрсдэлийн нэр томьёо, эрсдэлт хүчин зүйлсийг таних</a:t>
            </a:r>
            <a:endParaRPr lang="en-US" sz="1720" dirty="0"/>
          </a:p>
        </p:txBody>
      </p:sp>
      <p:sp>
        <p:nvSpPr>
          <p:cNvPr id="10" name="Shape 8"/>
          <p:cNvSpPr/>
          <p:nvPr/>
        </p:nvSpPr>
        <p:spPr>
          <a:xfrm>
            <a:off x="896112" y="30540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999232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 хийх арга, босго оноо, давтан үнэлэх нөхцөлийг мэдэх</a:t>
            </a:r>
            <a:endParaRPr lang="en-US" sz="1720" dirty="0"/>
          </a:p>
        </p:txBody>
      </p:sp>
      <p:sp>
        <p:nvSpPr>
          <p:cNvPr id="12" name="Shape 10"/>
          <p:cNvSpPr/>
          <p:nvPr/>
        </p:nvSpPr>
        <p:spPr>
          <a:xfrm>
            <a:off x="896112" y="363931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584448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Урьдчилан сэргийлэх ерөнхий арга хэмжээ, тэмдэглэгээний зарчмыг ойлгох</a:t>
            </a:r>
            <a:endParaRPr lang="en-US" sz="1720" dirty="0"/>
          </a:p>
        </p:txBody>
      </p:sp>
      <p:sp>
        <p:nvSpPr>
          <p:cNvPr id="14" name="Shape 12"/>
          <p:cNvSpPr/>
          <p:nvPr/>
        </p:nvSpPr>
        <p:spPr>
          <a:xfrm>
            <a:off x="896112" y="42245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4169664"/>
            <a:ext cx="978408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Хяналтын хуудас, хавсралт, хэрэгжилтийн шалгуурыг таних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ерөнхий мэдээлэл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бичгийн үндсэн мэдээлэл нь журам мөрдөх, шинэчлэл хянах, сургалтын эх сурвалжийг тодорхой болгодог.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 бичиг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31343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968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542032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Гарчиг: Унах эрсдэлийг үнэлэх, түүнээс урьдчилан сэргийлэх журам</a:t>
            </a:r>
            <a:endParaRPr lang="en-US" sz="146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17520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Баримтжуулсан мэдээллийн төрөл: ТҮЖ</a:t>
            </a:r>
            <a:endParaRPr lang="en-US" sz="1460" dirty="0"/>
          </a:p>
        </p:txBody>
      </p:sp>
      <p:sp>
        <p:nvSpPr>
          <p:cNvPr id="12" name="Shape 10"/>
          <p:cNvSpPr/>
          <p:nvPr/>
        </p:nvSpPr>
        <p:spPr>
          <a:xfrm>
            <a:off x="914400" y="3547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493008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Нийт хуудас: 14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6080760" y="1874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Хувилбар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80760" y="231343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59689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542032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Анх боловсруулсан огноо: 2020.04.24</a:t>
            </a:r>
            <a:endParaRPr lang="en-US" sz="1460" dirty="0"/>
          </a:p>
        </p:txBody>
      </p:sp>
      <p:sp>
        <p:nvSpPr>
          <p:cNvPr id="18" name="Shape 16"/>
          <p:cNvSpPr/>
          <p:nvPr/>
        </p:nvSpPr>
        <p:spPr>
          <a:xfrm>
            <a:off x="612648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017520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Өөрчилсөн огноо: 2023.05.01</a:t>
            </a:r>
            <a:endParaRPr lang="en-US" sz="1460" dirty="0"/>
          </a:p>
        </p:txBody>
      </p:sp>
      <p:sp>
        <p:nvSpPr>
          <p:cNvPr id="20" name="Shape 18"/>
          <p:cNvSpPr/>
          <p:nvPr/>
        </p:nvSpPr>
        <p:spPr>
          <a:xfrm>
            <a:off x="6126480" y="3547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3493008"/>
            <a:ext cx="4297680" cy="39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Шалгаж шинэчлэх огноо: 2027.05.01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зорилго ба хамрах хүрээ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 журам нь үйлчлүүлэгчийн уналтаас үүсэх бэртэл, гэмтлээс урьдчилан сэргийлэх зохицуулалт юм.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87168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Үйлчлүүлэгчдийн явганаас унах эрсдэлийг үнэлэх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17520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эрсдэлийг бууруулах, сэргийлэх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360273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547872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Уналтаас үүсэх бэртэл гэмтлээс хамгаалах үйл ажиллагааг зохицуулах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Хамрах хүрээ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487168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Энэрэл-МАМОЦ эмнэлгийн тасаг, нэгж бүр мөрдөнө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172200" y="30723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017520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Хэвтэн эмчлүүлэх, амбулатори, оношлогоо, зөөвөрлөлт зэрэг үйл явцад хамаарна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172200" y="360273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547872"/>
            <a:ext cx="4480560" cy="44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Эмч, сувилагч, эмнэлгийн бүх ажилтан хариуцлагатай оролцоно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Нэр томьёо, тодорхойлолт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Сургалтын эхэнд ажилчид “явганаас унах”, “үнэлгээний хуудас”, “хяналтын хуудас”-ны ялгааг ойлгох хэрэгтэй.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Явганаас унах: гэнэт, хяналтгүйгээр босоо байдлаа алдах, халтирч/бүдэрч унах тохиолдол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868680" y="254203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87168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Эпилепси, муужрах, ухаан алдах шалтгаант уналтыг энэ ойлголтод шууд хамааруулахгүй</a:t>
            </a:r>
            <a:endParaRPr lang="en-US" sz="1610" dirty="0"/>
          </a:p>
        </p:txBody>
      </p:sp>
      <p:sp>
        <p:nvSpPr>
          <p:cNvPr id="10" name="Shape 8"/>
          <p:cNvSpPr/>
          <p:nvPr/>
        </p:nvSpPr>
        <p:spPr>
          <a:xfrm>
            <a:off x="868680" y="32004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145536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Үнэлгээний хуудас: унаж бэртэх эрсдэл байгаа эсэхийг онооны системээр тогтоох арга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803904"/>
            <a:ext cx="99669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Хяналтын хуудас: урьдчилан сэргийлэх арга хэмжээнд хяналт хийж баталгаажуулах баримт</a:t>
            </a:r>
            <a:endParaRPr lang="en-US" sz="161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Үүрэг, хариуцлага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хэрэгжилт нь эмчийн үнэлгээ, сувилагчийн хяналт, бүх ажилтны орчны анхаарлаар бүрдэнэ.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Эмчлэгч эмч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Хэвтэх үед унах эрсдэл байгаа эсэхийг үнэлнэ</a:t>
            </a:r>
            <a:endParaRPr lang="en-US" sz="1460" dirty="0"/>
          </a:p>
        </p:txBody>
      </p:sp>
      <p:sp>
        <p:nvSpPr>
          <p:cNvPr id="10" name="Shape 8"/>
          <p:cNvSpPr/>
          <p:nvPr/>
        </p:nvSpPr>
        <p:spPr>
          <a:xfrm>
            <a:off x="914400" y="300837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95351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хүрэгч/хүүхдийн үнэлгээний хуудсыг өвчний түүхэнд хавсаргана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6172200" y="1828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Бүх ажилтан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20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45059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эрсдэлтэй үйлчлүүлэгчийг онцгой анхаарна</a:t>
            </a:r>
            <a:endParaRPr lang="en-US" sz="146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953512"/>
            <a:ext cx="42976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Орчны аюулыг илрүүлж, сэргийлэх арга хэмжээг авна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Чанарын баг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469087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194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4864608"/>
            <a:ext cx="9326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Хагас жил тутам гадаад, дотоод ээлтэй орчны үнэлгээ хийнэ</a:t>
            </a:r>
            <a:endParaRPr lang="en-US" sz="1460" dirty="0"/>
          </a:p>
        </p:txBody>
      </p:sp>
      <p:sp>
        <p:nvSpPr>
          <p:cNvPr id="22" name="Shape 20"/>
          <p:cNvSpPr/>
          <p:nvPr/>
        </p:nvSpPr>
        <p:spPr>
          <a:xfrm>
            <a:off x="914400" y="542239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5367528"/>
            <a:ext cx="9326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Эрсдэлийг бууруулах сайжруулалтын арга хэмжээг зохион байгуулна</a:t>
            </a:r>
            <a:endParaRPr lang="en-US" sz="146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Үнэлгээний арга ба босго оноо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Журамд насны бүлгээс хамааран 2 төрлийн үнэлгээ ашиглахаар заасан.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≥25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651760" y="25694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ба түүнээс дээш нас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30266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Хавсралт 1-ээр үнэлнэ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9019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Нярай, хүүхэд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5420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≥12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8138160" y="25694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4192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0-16 нас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30266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971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Хавсралт 2-оор үнэлнэ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Өөрчлөх боломжгүй өндөр эрсдэл байгаа бол оноог харгалзахгүйгээр унах эрсдэлтэй бүлэгт хамааруулна.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Давтан үнэлгээ хийх нөхцөл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 нэг удаагийн үнэлгээгээр дуусахгүй. Биеийн байдал, эмчилгээ, орчин өөрчлөгдөхөд давтан үнэлнэ.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Зөөвөрлөх үед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68680" y="234086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28600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Эмнэлгээс түр гарч, дахин хэвтэх үед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868680" y="28437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78892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эрсдэлд хүргэж болзошгүй эм, эмийн бодис хэрэглэж байгаа үед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86868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29184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Тайвшруулалттай шинжилгээ, эмчилгээ хийх үед болон дараа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84962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79476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цагийн дотор хэсгийн мэдээ алдуулалттай ажилбар хийлгэх, эмийн хэрэглээ нэмэгдэх үед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4297680"/>
            <a:ext cx="99669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Биеийн байдал өөрчлөгдөөгүй бол 7 хоногт 1 удаа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Эрсдэлт хүчин зүйлс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Журамд унах эрсдэлийг дотоод буюу биеийн байдалтай, гадаад буюу орчинтой холбоотой гэж авч үзнэ.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Дотоод хүчин зүйлс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20116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450592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Алхааны өөрчлөлт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71216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Яс, үе мөч, доод мөчдийн сулрал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91440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291840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Хараа, сонсголын өөрчлөлт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914400" y="37673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712464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Цус багадалт, шингэний дутагдал</a:t>
            </a:r>
            <a:endParaRPr lang="en-US" sz="1440" dirty="0"/>
          </a:p>
        </p:txBody>
      </p:sp>
      <p:sp>
        <p:nvSpPr>
          <p:cNvPr id="16" name="Shape 14"/>
          <p:cNvSpPr/>
          <p:nvPr/>
        </p:nvSpPr>
        <p:spPr>
          <a:xfrm>
            <a:off x="914400" y="41879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4133088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Зүрх судас, амьсгал, бодисын солилцооны эмгэг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172200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Гадаад хүчин зүйлс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2267712"/>
            <a:ext cx="2011680" cy="0"/>
          </a:xfrm>
          <a:prstGeom prst="line">
            <a:avLst/>
          </a:prstGeom>
          <a:noFill/>
          <a:ln w="27940">
            <a:solidFill>
              <a:srgbClr val="1433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5054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450592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Нойтон, урагдсан, сэртгэр шал</a:t>
            </a:r>
            <a:endParaRPr lang="en-US" sz="1440" dirty="0"/>
          </a:p>
        </p:txBody>
      </p:sp>
      <p:sp>
        <p:nvSpPr>
          <p:cNvPr id="22" name="Shape 20"/>
          <p:cNvSpPr/>
          <p:nvPr/>
        </p:nvSpPr>
        <p:spPr>
          <a:xfrm>
            <a:off x="6217920" y="292608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871216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Шатны бариул, гишгүүрийн аюул</a:t>
            </a:r>
            <a:endParaRPr lang="en-US" sz="1440" dirty="0"/>
          </a:p>
        </p:txBody>
      </p:sp>
      <p:sp>
        <p:nvSpPr>
          <p:cNvPr id="24" name="Shape 22"/>
          <p:cNvSpPr/>
          <p:nvPr/>
        </p:nvSpPr>
        <p:spPr>
          <a:xfrm>
            <a:off x="6217920" y="334670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291840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Хаалганы босго, нийтийн талбайн саад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6217920" y="37673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712464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Бие засах өрөөний халтиргаа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6217920" y="418795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4133088"/>
            <a:ext cx="4389120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Гэрэлтүүлэг, түшиж явах бариул дутмаг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Урьдчилан сэргийлэх ерөнхий арга хэмжээ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Өндөр эрсдэлтэй үйлчлүүлэгчид таних тэмдэг, орчны аюулгүй байдал, сургалт, хяналтын хуудас хамт хэрэгжинэ.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3794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783080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Шар бугуйн зүүлт, өвчний түүхийн шар навч, орны дэргэд болон өрөөний хаалганы тэмдэглэгээ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40487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50008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Сувилагчийн постонд ойр байрлуулах, дуудах хонхыг гарт хүрэхээр байршуулах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9718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16936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Орны хашлага, халтирдаггүй гутал, нүдний шил/сонсголын аппарат, гэрэлтүүлэг, бариулыг анхаарах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68680" y="353872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483864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Зөөвөрлөх үед тэргэнцэр ашиглаж, “гараас гарт” зарчмыг мөрдөх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050792"/>
            <a:ext cx="996696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Үйлчлүүлэгч, асран хамгаалагчид унахаас сэргийлэх сургалт өгөх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Унасан тохиолдолд авах арга хэмжээ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143000" cy="0"/>
          </a:xfrm>
          <a:prstGeom prst="line">
            <a:avLst/>
          </a:prstGeom>
          <a:noFill/>
          <a:ln w="508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25296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B6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танилцуулгын хүрээнд ажилчид уналтын дараах үндсэн дарааллыг мэддэг байх шаардлагатай.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828800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Үйлчлүүлэгчийн биеийн байдлыг үнэлэхээс өмнө хөдөлгөхгүй</a:t>
            </a:r>
            <a:endParaRPr lang="en-US" sz="1610" dirty="0"/>
          </a:p>
        </p:txBody>
      </p:sp>
      <p:sp>
        <p:nvSpPr>
          <p:cNvPr id="8" name="Shape 6"/>
          <p:cNvSpPr/>
          <p:nvPr/>
        </p:nvSpPr>
        <p:spPr>
          <a:xfrm>
            <a:off x="868680" y="2468880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414016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Ухамсар, амин үзүүлэлт, өвдөлтийн үнэлгээ хийх</a:t>
            </a:r>
            <a:endParaRPr lang="en-US" sz="1610" dirty="0"/>
          </a:p>
        </p:txBody>
      </p:sp>
      <p:sp>
        <p:nvSpPr>
          <p:cNvPr id="10" name="Shape 8"/>
          <p:cNvSpPr/>
          <p:nvPr/>
        </p:nvSpPr>
        <p:spPr>
          <a:xfrm>
            <a:off x="868680" y="3054096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2999232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Эмч болон удирдах албанд мэдээлэх</a:t>
            </a:r>
            <a:endParaRPr lang="en-US" sz="1610" dirty="0"/>
          </a:p>
        </p:txBody>
      </p:sp>
      <p:sp>
        <p:nvSpPr>
          <p:cNvPr id="12" name="Shape 10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3584448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Үйлчлүүлэгч, асран хамгаалагчид сэргийлэх сургалтыг давтан өгөх</a:t>
            </a:r>
            <a:endParaRPr lang="en-US" sz="1610" dirty="0"/>
          </a:p>
        </p:txBody>
      </p:sp>
      <p:sp>
        <p:nvSpPr>
          <p:cNvPr id="14" name="Shape 12"/>
          <p:cNvSpPr/>
          <p:nvPr/>
        </p:nvSpPr>
        <p:spPr>
          <a:xfrm>
            <a:off x="868680" y="4224528"/>
            <a:ext cx="128016" cy="12801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4169664"/>
            <a:ext cx="9875520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17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Тохиолдол мэдээлэх хуудсаар ерөнхий мэдээлэл, шалтгаан, бэртэл, нөлөөлсөн хүчин зүйлийг бүртгэх</a:t>
            </a:r>
            <a:endParaRPr lang="en-US" sz="161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7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сургалт: “Унах эрсдэлийг үнэлэх, түүнээс урьдчилан сэргийлэх журам”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137392" y="632764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3A"/>
          </a:solidFill>
          <a:ln w="12700">
            <a:solidFill>
              <a:srgbClr val="143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гол санаа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13232" y="1371600"/>
            <a:ext cx="1143000" cy="0"/>
          </a:xfrm>
          <a:prstGeom prst="line">
            <a:avLst/>
          </a:prstGeom>
          <a:noFill/>
          <a:ln w="63500">
            <a:solidFill>
              <a:srgbClr val="F4C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56816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1901952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Унах эрсдэлийг насанд тохирсон үнэлгээний хуудсаар тодорхойлно</a:t>
            </a:r>
            <a:endParaRPr lang="en-US" sz="172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2523744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Насанд хүрэгч ≥25, хүүхэд ≥12 бол хяналтын хуудас, сэргийлэх арга хэмжээ эхэлнэ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145536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Өөрчлөх боломжгүй өндөр эрсдэл байвал онооноос үл хамааран эрсдэлтэй бүлэгт хамаарна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68680" y="3822192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3767328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Сэргийлэлт нь тэмдэглэгээ, орчны аюулгүй байдал, зөөвөрлөлт, сургалт, баримтжуулалтаас бүрдэнэ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868680" y="4443984"/>
            <a:ext cx="128016" cy="1280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389120"/>
            <a:ext cx="9326880" cy="522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Журмын хэрэгжилтийн зорилт: эмнэлгийн нөхцөлд унаж бэртэх тоог тэгтэй тэнцүүлэх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 rot="2700000">
            <a:off x="9921240" y="1664208"/>
            <a:ext cx="878738" cy="1190549"/>
          </a:xfrm>
          <a:prstGeom prst="teardrop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920000">
            <a:off x="10190531" y="1890979"/>
            <a:ext cx="510235" cy="623621"/>
          </a:xfrm>
          <a:prstGeom prst="arc">
            <a:avLst/>
          </a:prstGeom>
          <a:noFill/>
          <a:ln w="13970">
            <a:solidFill>
              <a:srgbClr val="143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8064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Журмыг мэдэх нь аюулгүй тусламжийн эхний алхам.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64240" y="6236208"/>
            <a:ext cx="502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Энэрэл-МАМОЦ эмнэлэг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Унах эрсдэлийн журмын сургалт</dc:title>
  <dc:subject>Унах эрсдэлийг үнэлэх, түүнээс урьдчилан сэргийлэх журмын сургалт</dc:subject>
  <dc:creator>Codex</dc:creator>
  <cp:lastModifiedBy>Codex</cp:lastModifiedBy>
  <cp:revision>1</cp:revision>
  <dcterms:created xsi:type="dcterms:W3CDTF">2026-05-07T04:21:27Z</dcterms:created>
  <dcterms:modified xsi:type="dcterms:W3CDTF">2026-05-07T04:21:27Z</dcterms:modified>
</cp:coreProperties>
</file>