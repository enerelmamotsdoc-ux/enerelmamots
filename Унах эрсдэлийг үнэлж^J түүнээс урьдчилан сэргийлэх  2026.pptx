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84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5078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33A"/>
          </a:solidFill>
          <a:ln w="12700">
            <a:solidFill>
              <a:srgbClr val="143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68680"/>
            <a:ext cx="80467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Унах эрсдэлийг үнэлэх,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түүнээс урьдчилан сэргийлэх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13232" y="2487168"/>
            <a:ext cx="1371600" cy="0"/>
          </a:xfrm>
          <a:prstGeom prst="line">
            <a:avLst/>
          </a:prstGeom>
          <a:noFill/>
          <a:ln w="635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81635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 | танилцуулах, мэдлэг олгох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60167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ЭМЭ-БМ-02 ТҮЖ 20:2023-02 | 2-р хэвлэл | Өөрчилсөн огноо: 2023.05.01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 rot="2700000">
            <a:off x="9253728" y="960120"/>
            <a:ext cx="1615745" cy="2189074"/>
          </a:xfrm>
          <a:prstGeom prst="teardrop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920000">
            <a:off x="9748876" y="1377086"/>
            <a:ext cx="938174" cy="1146658"/>
          </a:xfrm>
          <a:prstGeom prst="arc">
            <a:avLst/>
          </a:prstGeom>
          <a:noFill/>
          <a:ln w="13970">
            <a:solidFill>
              <a:srgbClr val="1433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6016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Энэрэл-МАМОЦ эмнэлэг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Сургалтын зорилго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Ажилчдад журмын үндсэн агуулга, хэрэглэх нөхцөл, баримтжуулалтын ойлголтыг нэг мөрөөр танилцуулна.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96112" y="188366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144" y="1828800"/>
            <a:ext cx="978408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зорилго, хамрах хүрээ, үндэслэлийг ойлгох</a:t>
            </a:r>
            <a:endParaRPr lang="en-US" sz="1720" dirty="0"/>
          </a:p>
        </p:txBody>
      </p:sp>
      <p:sp>
        <p:nvSpPr>
          <p:cNvPr id="8" name="Shape 6"/>
          <p:cNvSpPr/>
          <p:nvPr/>
        </p:nvSpPr>
        <p:spPr>
          <a:xfrm>
            <a:off x="896112" y="246888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2144" y="2414016"/>
            <a:ext cx="978408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Унах эрсдэлийн нэр томьёо, эрсдэлт хүчин зүйлсийг таних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896112" y="305409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" y="2999232"/>
            <a:ext cx="978408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Үнэлгээ хийх арга, босго оноо, давтан үнэлэх нөхцөлийг мэдэх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896112" y="363931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3584448"/>
            <a:ext cx="978408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Урьдчилан сэргийлэх ерөнхий арга хэмжээ, тэмдэглэгээний зарчмыг ойлгох</a:t>
            </a:r>
            <a:endParaRPr lang="en-US" sz="1720" dirty="0"/>
          </a:p>
        </p:txBody>
      </p:sp>
      <p:sp>
        <p:nvSpPr>
          <p:cNvPr id="14" name="Shape 12"/>
          <p:cNvSpPr/>
          <p:nvPr/>
        </p:nvSpPr>
        <p:spPr>
          <a:xfrm>
            <a:off x="896112" y="422452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4169664"/>
            <a:ext cx="978408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Хяналтын хуудас, хавсралт, хэрэгжилтийн шалгуурыг таних</a:t>
            </a:r>
            <a:endParaRPr lang="en-US" sz="172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сургалт: “Унах эрсдэлийг үнэлэх, түүнээс урьдчилан сэргийлэх журам”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ерөнхий мэдээлэл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Баримт бичгийн үндсэн мэдээлэл нь журам мөрдөх, шинэчлэл хянах, сургалтын эх сурвалжийг тодорхой болгодог.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Баримт бичиг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313432"/>
            <a:ext cx="201168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9689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542032"/>
            <a:ext cx="429768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Гарчиг: Унах эрсдэлийг үнэлэх, түүнээс урьдчилан сэргийлэх журам</a:t>
            </a:r>
            <a:endParaRPr lang="en-US" sz="1460" dirty="0"/>
          </a:p>
        </p:txBody>
      </p:sp>
      <p:sp>
        <p:nvSpPr>
          <p:cNvPr id="10" name="Shape 8"/>
          <p:cNvSpPr/>
          <p:nvPr/>
        </p:nvSpPr>
        <p:spPr>
          <a:xfrm>
            <a:off x="914400" y="307238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17520"/>
            <a:ext cx="429768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Баримтжуулсан мэдээллийн төрөл: ТҮЖ</a:t>
            </a:r>
            <a:endParaRPr lang="en-US" sz="1460" dirty="0"/>
          </a:p>
        </p:txBody>
      </p:sp>
      <p:sp>
        <p:nvSpPr>
          <p:cNvPr id="12" name="Shape 10"/>
          <p:cNvSpPr/>
          <p:nvPr/>
        </p:nvSpPr>
        <p:spPr>
          <a:xfrm>
            <a:off x="914400" y="354787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493008"/>
            <a:ext cx="429768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Нийт хуудас: 14</a:t>
            </a:r>
            <a:endParaRPr lang="en-US" sz="1460" dirty="0"/>
          </a:p>
        </p:txBody>
      </p:sp>
      <p:sp>
        <p:nvSpPr>
          <p:cNvPr id="14" name="Text 12"/>
          <p:cNvSpPr/>
          <p:nvPr/>
        </p:nvSpPr>
        <p:spPr>
          <a:xfrm>
            <a:off x="6080760" y="18745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Хувилбар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80760" y="2313432"/>
            <a:ext cx="2011680" cy="0"/>
          </a:xfrm>
          <a:prstGeom prst="line">
            <a:avLst/>
          </a:prstGeom>
          <a:noFill/>
          <a:ln w="27940">
            <a:solidFill>
              <a:srgbClr val="1433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59689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542032"/>
            <a:ext cx="429768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Анх боловсруулсан огноо: 2020.04.24</a:t>
            </a:r>
            <a:endParaRPr lang="en-US" sz="1460" dirty="0"/>
          </a:p>
        </p:txBody>
      </p:sp>
      <p:sp>
        <p:nvSpPr>
          <p:cNvPr id="18" name="Shape 16"/>
          <p:cNvSpPr/>
          <p:nvPr/>
        </p:nvSpPr>
        <p:spPr>
          <a:xfrm>
            <a:off x="6126480" y="307238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3017520"/>
            <a:ext cx="429768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Өөрчилсөн огноо: 2023.05.01</a:t>
            </a:r>
            <a:endParaRPr lang="en-US" sz="1460" dirty="0"/>
          </a:p>
        </p:txBody>
      </p:sp>
      <p:sp>
        <p:nvSpPr>
          <p:cNvPr id="20" name="Shape 18"/>
          <p:cNvSpPr/>
          <p:nvPr/>
        </p:nvSpPr>
        <p:spPr>
          <a:xfrm>
            <a:off x="6126480" y="354787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3493008"/>
            <a:ext cx="429768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Шалгаж шинэчлэх огноо: 2027.05.01</a:t>
            </a:r>
            <a:endParaRPr lang="en-US" sz="146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сургалт: “Унах эрсдэлийг үнэлэх, түүнээс урьдчилан сэргийлэх журам”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зорилго ба хамрах хүрээ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Энэ журам нь үйлчлүүлэгчийн уналтаас үүсэх бэртэл, гэмтлээс урьдчилан сэргийлэх зохицуулалт юм.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Зорилго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267712"/>
            <a:ext cx="201168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4203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487168"/>
            <a:ext cx="4480560" cy="44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Үйлчлүүлэгчдийн явганаас унах эрсдэлийг үнэлэх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14400" y="307238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17520"/>
            <a:ext cx="4480560" cy="44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Унах эрсдэлийг бууруулах, сэргийлэх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14400" y="360273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547872"/>
            <a:ext cx="4480560" cy="44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Уналтаас үүсэх бэртэл гэмтлээс хамгаалах үйл ажиллагааг зохицуулах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126480" y="18288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Хамрах хүрээ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26480" y="2267712"/>
            <a:ext cx="2011680" cy="0"/>
          </a:xfrm>
          <a:prstGeom prst="line">
            <a:avLst/>
          </a:prstGeom>
          <a:noFill/>
          <a:ln w="27940">
            <a:solidFill>
              <a:srgbClr val="1433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54203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2487168"/>
            <a:ext cx="4480560" cy="44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Энэрэл-МАМОЦ эмнэлгийн тасаг, нэгж бүр мөрдөнө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172200" y="307238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3017520"/>
            <a:ext cx="4480560" cy="44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Хэвтэн эмчлүүлэх, амбулатори, оношлогоо, зөөвөрлөлт зэрэг үйл явцад хамаарна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172200" y="360273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3547872"/>
            <a:ext cx="4480560" cy="44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Эмч, сувилагч, эмнэлгийн бүх ажилтан хариуцлагатай оролцоно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сургалт: “Унах эрсдэлийг үнэлэх, түүнээс урьдчилан сэргийлэх журам”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Нэр томьёо, тодорхойлолт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Сургалтын эхэнд ажилчид “явганаас унах”, “үнэлгээний хуудас”, “хяналтын хуудас”-ны ялгааг ойлгох хэрэгтэй.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68680" y="188366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828800"/>
            <a:ext cx="9966960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1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Явганаас унах: гэнэт, хяналтгүйгээр босоо байдлаа алдах, халтирч/бүдэрч унах тохиолдол</a:t>
            </a:r>
            <a:endParaRPr lang="en-US" sz="1610" dirty="0"/>
          </a:p>
        </p:txBody>
      </p:sp>
      <p:sp>
        <p:nvSpPr>
          <p:cNvPr id="8" name="Shape 6"/>
          <p:cNvSpPr/>
          <p:nvPr/>
        </p:nvSpPr>
        <p:spPr>
          <a:xfrm>
            <a:off x="868680" y="254203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487168"/>
            <a:ext cx="9966960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1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Эпилепси, муужрах, ухаан алдах шалтгаант уналтыг энэ ойлголтод шууд хамааруулахгүй</a:t>
            </a:r>
            <a:endParaRPr lang="en-US" sz="1610" dirty="0"/>
          </a:p>
        </p:txBody>
      </p:sp>
      <p:sp>
        <p:nvSpPr>
          <p:cNvPr id="10" name="Shape 8"/>
          <p:cNvSpPr/>
          <p:nvPr/>
        </p:nvSpPr>
        <p:spPr>
          <a:xfrm>
            <a:off x="868680" y="320040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3145536"/>
            <a:ext cx="9966960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1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Үнэлгээний хуудас: унаж бэртэх эрсдэл байгаа эсэхийг онооны системээр тогтоох арга</a:t>
            </a:r>
            <a:endParaRPr lang="en-US" sz="1610" dirty="0"/>
          </a:p>
        </p:txBody>
      </p:sp>
      <p:sp>
        <p:nvSpPr>
          <p:cNvPr id="12" name="Shape 10"/>
          <p:cNvSpPr/>
          <p:nvPr/>
        </p:nvSpPr>
        <p:spPr>
          <a:xfrm>
            <a:off x="868680" y="385876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803904"/>
            <a:ext cx="9966960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1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Хяналтын хуудас: урьдчилан сэргийлэх арга хэмжээнд хяналт хийж баталгаажуулах баримт</a:t>
            </a:r>
            <a:endParaRPr lang="en-US" sz="161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сургалт: “Унах эрсдэлийг үнэлэх, түүнээс урьдчилан сэргийлэх журам”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Үүрэг, хариуцлага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хэрэгжилт нь эмчийн үнэлгээ, сувилагчийн хяналт, бүх ажилтны орчны анхаарлаар бүрдэнэ.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Эмчлэгч эмч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267712"/>
            <a:ext cx="201168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0545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450592"/>
            <a:ext cx="42976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Хэвтэх үед унах эрсдэл байгаа эсэхийг үнэлнэ</a:t>
            </a:r>
            <a:endParaRPr lang="en-US" sz="1460" dirty="0"/>
          </a:p>
        </p:txBody>
      </p:sp>
      <p:sp>
        <p:nvSpPr>
          <p:cNvPr id="10" name="Shape 8"/>
          <p:cNvSpPr/>
          <p:nvPr/>
        </p:nvSpPr>
        <p:spPr>
          <a:xfrm>
            <a:off x="914400" y="300837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953512"/>
            <a:ext cx="42976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Насанд хүрэгч/хүүхдийн үнэлгээний хуудсыг өвчний түүхэнд хавсаргана</a:t>
            </a:r>
            <a:endParaRPr lang="en-US" sz="1460" dirty="0"/>
          </a:p>
        </p:txBody>
      </p:sp>
      <p:sp>
        <p:nvSpPr>
          <p:cNvPr id="12" name="Text 10"/>
          <p:cNvSpPr/>
          <p:nvPr/>
        </p:nvSpPr>
        <p:spPr>
          <a:xfrm>
            <a:off x="6172200" y="18288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Бүх ажилтан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72200" y="2267712"/>
            <a:ext cx="2011680" cy="0"/>
          </a:xfrm>
          <a:prstGeom prst="line">
            <a:avLst/>
          </a:prstGeom>
          <a:noFill/>
          <a:ln w="27940">
            <a:solidFill>
              <a:srgbClr val="1433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50545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2450592"/>
            <a:ext cx="42976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Унах эрсдэлтэй үйлчлүүлэгчийг онцгой анхаарна</a:t>
            </a:r>
            <a:endParaRPr lang="en-US" sz="1460" dirty="0"/>
          </a:p>
        </p:txBody>
      </p:sp>
      <p:sp>
        <p:nvSpPr>
          <p:cNvPr id="16" name="Shape 14"/>
          <p:cNvSpPr/>
          <p:nvPr/>
        </p:nvSpPr>
        <p:spPr>
          <a:xfrm>
            <a:off x="6217920" y="300837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953512"/>
            <a:ext cx="42976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Орчны аюулыг илрүүлж, сэргийлэх арга хэмжээг авна</a:t>
            </a:r>
            <a:endParaRPr lang="en-US" sz="1460" dirty="0"/>
          </a:p>
        </p:txBody>
      </p:sp>
      <p:sp>
        <p:nvSpPr>
          <p:cNvPr id="18" name="Text 16"/>
          <p:cNvSpPr/>
          <p:nvPr/>
        </p:nvSpPr>
        <p:spPr>
          <a:xfrm>
            <a:off x="868680" y="4251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Чанарын баг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68680" y="4690872"/>
            <a:ext cx="201168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91947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4864608"/>
            <a:ext cx="93268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Хагас жил тутам гадаад, дотоод ээлтэй орчны үнэлгээ хийнэ</a:t>
            </a:r>
            <a:endParaRPr lang="en-US" sz="1460" dirty="0"/>
          </a:p>
        </p:txBody>
      </p:sp>
      <p:sp>
        <p:nvSpPr>
          <p:cNvPr id="22" name="Shape 20"/>
          <p:cNvSpPr/>
          <p:nvPr/>
        </p:nvSpPr>
        <p:spPr>
          <a:xfrm>
            <a:off x="914400" y="542239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5367528"/>
            <a:ext cx="93268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Эрсдэлийг бууруулах сайжруулалтын арга хэмжээг зохион байгуулна</a:t>
            </a:r>
            <a:endParaRPr lang="en-US" sz="146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сургалт: “Унах эрсдэлийг үнэлэх, түүнээс урьдчилан сэргийлэх журам”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Үнэлгээний арга ба босго оноо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Журамд насны бүлгээс хамааран 2 төрлийн үнэлгээ ашиглахаар заасан.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914400" y="19019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Насанд хүрэгч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≥25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2651760" y="256946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2514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ба түүнээс дээш нас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651760" y="302666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2971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Хавсралт 1-ээр үнэлнэ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19019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Нярай, хүүхэд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25420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≥12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8138160" y="2569464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2514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0-16 нас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38160" y="3026664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2971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Хавсралт 2-оор үнэлнэ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846320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Өөрчлөх боломжгүй өндөр эрсдэл байгаа бол оноог харгалзахгүйгээр унах эрсдэлтэй бүлэгт хамааруулна.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сургалт: “Унах эрсдэлийг үнэлэх, түүнээс урьдчилан сэргийлэх журам”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Давтан үнэлгээ хийх нөхцөл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Эрсдэл нэг удаагийн үнэлгээгээр дуусахгүй. Биеийн байдал, эмчилгээ, орчин өөрчлөгдөхөд давтан үнэлнэ.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68680" y="183794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783080"/>
            <a:ext cx="996696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Зөөвөрлөх үед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868680" y="234086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286000"/>
            <a:ext cx="996696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Эмнэлгээс түр гарч, дахин хэвтэх үед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868680" y="284378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788920"/>
            <a:ext cx="996696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Унах эрсдэлд хүргэж болзошгүй эм, эмийн бодис хэрэглэж байгаа үед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868680" y="334670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291840"/>
            <a:ext cx="996696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Тайвшруулалттай шинжилгээ, эмчилгээ хийх үед болон дараа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868680" y="384962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3794760"/>
            <a:ext cx="996696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цагийн дотор хэсгийн мэдээ алдуулалттай ажилбар хийлгэх, эмийн хэрэглээ нэмэгдэх үед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868680" y="435254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4712" y="4297680"/>
            <a:ext cx="996696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Биеийн байдал өөрчлөгдөөгүй бол 7 хоногт 1 удаа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502920" y="64465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сургалт: “Унах эрсдэлийг үнэлэх, түүнээс урьдчилан сэргийлэх журам”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Эрсдэлт хүчин зүйлс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Журамд унах эрсдэлийг дотоод буюу биеийн байдалтай, гадаад буюу орчинтой холбоотой гэж авч үзнэ.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Дотоод хүчин зүйлс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267712"/>
            <a:ext cx="201168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0545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450592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Алхааны өөрчлөлт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871216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Яс, үе мөч, доод мөчдийн сулрал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914400" y="334670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291840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Хараа, сонсголын өөрчлөлт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914400" y="376732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712464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Цус багадалт, шингэний дутагдал</a:t>
            </a:r>
            <a:endParaRPr lang="en-US" sz="1440" dirty="0"/>
          </a:p>
        </p:txBody>
      </p:sp>
      <p:sp>
        <p:nvSpPr>
          <p:cNvPr id="16" name="Shape 14"/>
          <p:cNvSpPr/>
          <p:nvPr/>
        </p:nvSpPr>
        <p:spPr>
          <a:xfrm>
            <a:off x="914400" y="418795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4133088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Зүрх судас, амьсгал, бодисын солилцооны эмгэг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6172200" y="18288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Гадаад хүчин зүйлс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72200" y="2267712"/>
            <a:ext cx="2011680" cy="0"/>
          </a:xfrm>
          <a:prstGeom prst="line">
            <a:avLst/>
          </a:prstGeom>
          <a:noFill/>
          <a:ln w="27940">
            <a:solidFill>
              <a:srgbClr val="1433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50545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2450592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Нойтон, урагдсан, сэртгэр шал</a:t>
            </a:r>
            <a:endParaRPr lang="en-US" sz="1440" dirty="0"/>
          </a:p>
        </p:txBody>
      </p:sp>
      <p:sp>
        <p:nvSpPr>
          <p:cNvPr id="22" name="Shape 20"/>
          <p:cNvSpPr/>
          <p:nvPr/>
        </p:nvSpPr>
        <p:spPr>
          <a:xfrm>
            <a:off x="6217920" y="292608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2871216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Шатны бариул, гишгүүрийн аюул</a:t>
            </a:r>
            <a:endParaRPr lang="en-US" sz="1440" dirty="0"/>
          </a:p>
        </p:txBody>
      </p:sp>
      <p:sp>
        <p:nvSpPr>
          <p:cNvPr id="24" name="Shape 22"/>
          <p:cNvSpPr/>
          <p:nvPr/>
        </p:nvSpPr>
        <p:spPr>
          <a:xfrm>
            <a:off x="6217920" y="334670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3291840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Хаалганы босго, нийтийн талбайн саад</a:t>
            </a:r>
            <a:endParaRPr lang="en-US" sz="1440" dirty="0"/>
          </a:p>
        </p:txBody>
      </p:sp>
      <p:sp>
        <p:nvSpPr>
          <p:cNvPr id="26" name="Shape 24"/>
          <p:cNvSpPr/>
          <p:nvPr/>
        </p:nvSpPr>
        <p:spPr>
          <a:xfrm>
            <a:off x="6217920" y="376732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3712464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Бие засах өрөөний халтиргаа</a:t>
            </a:r>
            <a:endParaRPr lang="en-US" sz="1440" dirty="0"/>
          </a:p>
        </p:txBody>
      </p:sp>
      <p:sp>
        <p:nvSpPr>
          <p:cNvPr id="28" name="Shape 26"/>
          <p:cNvSpPr/>
          <p:nvPr/>
        </p:nvSpPr>
        <p:spPr>
          <a:xfrm>
            <a:off x="6217920" y="418795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4133088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Гэрэлтүүлэг, түшиж явах бариул дутмаг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502920" y="64465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сургалт: “Унах эрсдэлийг үнэлэх, түүнээс урьдчилан сэргийлэх журам”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Урьдчилан сэргийлэх ерөнхий арга хэмжээ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Өндөр эрсдэлтэй үйлчлүүлэгчид таних тэмдэг, орчны аюулгүй байдал, сургалт, хяналтын хуудас хамт хэрэгжинэ.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68680" y="183794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783080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Шар бугуйн зүүлт, өвчний түүхийн шар навч, орны дэргэд болон өрөөний хаалганы тэмдэглэгээ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240487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350008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Сувилагчийн постонд ойр байрлуулах, дуудах хонхыг гарт хүрэхээр байршуулах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68680" y="297180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916936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Орны хашлага, халтирдаггүй гутал, нүдний шил/сонсголын аппарат, гэрэлтүүлэг, бариулыг анхаарах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68680" y="353872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483864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Зөөвөрлөх үед тэргэнцэр ашиглаж, “гараас гарт” зарчмыг мөрдөх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68680" y="410565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4050792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Үйлчлүүлэгч, асран хамгаалагчид унахаас сэргийлэх сургалт өгөх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сургалт: “Унах эрсдэлийг үнэлэх, түүнээс урьдчилан сэргийлэх журам”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Унасан тохиолдолд авах арга хэмжээ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танилцуулгын хүрээнд ажилчид уналтын дараах үндсэн дарааллыг мэддэг байх шаардлагатай.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68680" y="1883664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828800"/>
            <a:ext cx="987552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1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Үйлчлүүлэгчийн биеийн байдлыг үнэлэхээс өмнө хөдөлгөхгүй</a:t>
            </a:r>
            <a:endParaRPr lang="en-US" sz="1610" dirty="0"/>
          </a:p>
        </p:txBody>
      </p:sp>
      <p:sp>
        <p:nvSpPr>
          <p:cNvPr id="8" name="Shape 6"/>
          <p:cNvSpPr/>
          <p:nvPr/>
        </p:nvSpPr>
        <p:spPr>
          <a:xfrm>
            <a:off x="868680" y="2468880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414016"/>
            <a:ext cx="987552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1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Ухамсар, амин үзүүлэлт, өвдөлтийн үнэлгээ хийх</a:t>
            </a:r>
            <a:endParaRPr lang="en-US" sz="1610" dirty="0"/>
          </a:p>
        </p:txBody>
      </p:sp>
      <p:sp>
        <p:nvSpPr>
          <p:cNvPr id="10" name="Shape 8"/>
          <p:cNvSpPr/>
          <p:nvPr/>
        </p:nvSpPr>
        <p:spPr>
          <a:xfrm>
            <a:off x="868680" y="3054096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999232"/>
            <a:ext cx="987552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1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Эмч болон удирдах албанд мэдээлэх</a:t>
            </a:r>
            <a:endParaRPr lang="en-US" sz="1610" dirty="0"/>
          </a:p>
        </p:txBody>
      </p:sp>
      <p:sp>
        <p:nvSpPr>
          <p:cNvPr id="12" name="Shape 10"/>
          <p:cNvSpPr/>
          <p:nvPr/>
        </p:nvSpPr>
        <p:spPr>
          <a:xfrm>
            <a:off x="868680" y="3639312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584448"/>
            <a:ext cx="987552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1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Үйлчлүүлэгч, асран хамгаалагчид сэргийлэх сургалтыг давтан өгөх</a:t>
            </a:r>
            <a:endParaRPr lang="en-US" sz="1610" dirty="0"/>
          </a:p>
        </p:txBody>
      </p:sp>
      <p:sp>
        <p:nvSpPr>
          <p:cNvPr id="14" name="Shape 12"/>
          <p:cNvSpPr/>
          <p:nvPr/>
        </p:nvSpPr>
        <p:spPr>
          <a:xfrm>
            <a:off x="868680" y="4224528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4169664"/>
            <a:ext cx="987552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1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Тохиолдол мэдээлэх хуудсаар ерөнхий мэдээлэл, шалтгаан, бэртэл, нөлөөлсөн хүчин зүйлийг бүртгэх</a:t>
            </a:r>
            <a:endParaRPr lang="en-US" sz="161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сургалт: “Унах эрсдэлийг үнэлэх, түүнээс урьдчилан сэргийлэх журам”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33A"/>
          </a:solidFill>
          <a:ln w="12700">
            <a:solidFill>
              <a:srgbClr val="143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583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гол санаа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3232" y="1371600"/>
            <a:ext cx="1143000" cy="0"/>
          </a:xfrm>
          <a:prstGeom prst="line">
            <a:avLst/>
          </a:prstGeom>
          <a:noFill/>
          <a:ln w="63500">
            <a:solidFill>
              <a:srgbClr val="F4C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5681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1901952"/>
            <a:ext cx="932688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Унах эрсдэлийг насанд тохирсон үнэлгээний хуудсаар тодорхойлно</a:t>
            </a:r>
            <a:endParaRPr lang="en-US" sz="1720" dirty="0"/>
          </a:p>
        </p:txBody>
      </p:sp>
      <p:sp>
        <p:nvSpPr>
          <p:cNvPr id="7" name="Shape 5"/>
          <p:cNvSpPr/>
          <p:nvPr/>
        </p:nvSpPr>
        <p:spPr>
          <a:xfrm>
            <a:off x="868680" y="257860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2523744"/>
            <a:ext cx="932688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Насанд хүрэгч ≥25, хүүхэд ≥12 бол хяналтын хуудас, сэргийлэх арга хэмжээ эхэлнэ</a:t>
            </a:r>
            <a:endParaRPr lang="en-US" sz="1720" dirty="0"/>
          </a:p>
        </p:txBody>
      </p:sp>
      <p:sp>
        <p:nvSpPr>
          <p:cNvPr id="9" name="Shape 7"/>
          <p:cNvSpPr/>
          <p:nvPr/>
        </p:nvSpPr>
        <p:spPr>
          <a:xfrm>
            <a:off x="868680" y="320040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3145536"/>
            <a:ext cx="932688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Өөрчлөх боломжгүй өндөр эрсдэл байвал онооноос үл хамааран эрсдэлтэй бүлэгт хамаарна</a:t>
            </a:r>
            <a:endParaRPr lang="en-US" sz="1720" dirty="0"/>
          </a:p>
        </p:txBody>
      </p:sp>
      <p:sp>
        <p:nvSpPr>
          <p:cNvPr id="11" name="Shape 9"/>
          <p:cNvSpPr/>
          <p:nvPr/>
        </p:nvSpPr>
        <p:spPr>
          <a:xfrm>
            <a:off x="868680" y="382219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3767328"/>
            <a:ext cx="932688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Сэргийлэлт нь тэмдэглэгээ, орчны аюулгүй байдал, зөөвөрлөлт, сургалт, баримтжуулалтаас бүрдэнэ</a:t>
            </a:r>
            <a:endParaRPr lang="en-US" sz="1720" dirty="0"/>
          </a:p>
        </p:txBody>
      </p:sp>
      <p:sp>
        <p:nvSpPr>
          <p:cNvPr id="13" name="Shape 11"/>
          <p:cNvSpPr/>
          <p:nvPr/>
        </p:nvSpPr>
        <p:spPr>
          <a:xfrm>
            <a:off x="868680" y="444398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4389120"/>
            <a:ext cx="932688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хэрэгжилтийн зорилт: эмнэлгийн нөхцөлд унаж бэртэх тоог тэгтэй тэнцүүлэх</a:t>
            </a:r>
            <a:endParaRPr lang="en-US" sz="1720" dirty="0"/>
          </a:p>
        </p:txBody>
      </p:sp>
      <p:sp>
        <p:nvSpPr>
          <p:cNvPr id="15" name="Shape 13"/>
          <p:cNvSpPr/>
          <p:nvPr/>
        </p:nvSpPr>
        <p:spPr>
          <a:xfrm rot="2700000">
            <a:off x="9921240" y="1664208"/>
            <a:ext cx="878738" cy="1190549"/>
          </a:xfrm>
          <a:prstGeom prst="teardrop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920000">
            <a:off x="10190531" y="1890979"/>
            <a:ext cx="510235" cy="623621"/>
          </a:xfrm>
          <a:prstGeom prst="arc">
            <a:avLst/>
          </a:prstGeom>
          <a:noFill/>
          <a:ln w="13970">
            <a:solidFill>
              <a:srgbClr val="143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80644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D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Журмыг мэдэх нь аюулгүй тусламжийн эхний алхам.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64240" y="623620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C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н загвар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917</Words>
  <Application>Microsoft Office PowerPoint</Application>
  <PresentationFormat>Өргөн дэлгэц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Ашигласан үсгийн хэв</vt:lpstr>
      </vt:variant>
      <vt:variant>
        <vt:i4>1</vt:i4>
      </vt:variant>
      <vt:variant>
        <vt:lpstr>Загвар</vt:lpstr>
      </vt:variant>
      <vt:variant>
        <vt:i4>1</vt:i4>
      </vt:variant>
      <vt:variant>
        <vt:lpstr>Үзүүлэнгийн гарчгууд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илтгэл</vt:lpstr>
      <vt:lpstr>PowerPoint илтгэл</vt:lpstr>
      <vt:lpstr>PowerPoint илтгэл</vt:lpstr>
      <vt:lpstr>PowerPoint илтгэл</vt:lpstr>
      <vt:lpstr>PowerPoint илтгэл</vt:lpstr>
      <vt:lpstr>PowerPoint илтгэл</vt:lpstr>
      <vt:lpstr>PowerPoint илтгэл</vt:lpstr>
      <vt:lpstr>PowerPoint илтгэл</vt:lpstr>
      <vt:lpstr>PowerPoint илтгэл</vt:lpstr>
      <vt:lpstr>PowerPoint илтгэл</vt:lpstr>
      <vt:lpstr>PowerPoint илтгэл</vt:lpstr>
      <vt:lpstr>PowerPoint илтгэл</vt:lpstr>
    </vt:vector>
  </TitlesOfParts>
  <Company>Энэрэл-МАМОЦ эмнэлэг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Унах эрсдэлийн журмын сургалт</dc:title>
  <dc:subject>Унах эрсдэлийг үнэлэх, түүнээс урьдчилан сэргийлэх журмын сургалт</dc:subject>
  <dc:creator>Codex</dc:creator>
  <cp:lastModifiedBy>enerelmamotsdoc@gmail.com</cp:lastModifiedBy>
  <cp:revision>1</cp:revision>
  <dcterms:created xsi:type="dcterms:W3CDTF">2026-05-07T04:21:27Z</dcterms:created>
  <dcterms:modified xsi:type="dcterms:W3CDTF">2026-05-07T04:26:31Z</dcterms:modified>
</cp:coreProperties>
</file>