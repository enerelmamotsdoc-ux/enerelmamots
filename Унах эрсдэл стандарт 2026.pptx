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28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3A"/>
          </a:solidFill>
          <a:ln w="12700">
            <a:solidFill>
              <a:srgbClr val="143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6868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Унаж бэртэх эрсдэлийг үнэлэх,</a:t>
            </a:r>
            <a:endParaRPr lang="en-US" sz="3450" dirty="0"/>
          </a:p>
          <a:p>
            <a:pPr marL="0" indent="0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түүнээс урьдчилан сэргийлэх арга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13232" y="2514600"/>
            <a:ext cx="1371600" cy="0"/>
          </a:xfrm>
          <a:prstGeom prst="line">
            <a:avLst/>
          </a:prstGeom>
          <a:noFill/>
          <a:ln w="635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8346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DD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MNS 6211:2019 стандартын сургалт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85800" y="60167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Танилцуулах, мэдлэг олгох сургалтын материал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2700000">
            <a:off x="9253728" y="960120"/>
            <a:ext cx="1615745" cy="2189074"/>
          </a:xfrm>
          <a:prstGeom prst="teardrop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920000">
            <a:off x="9748876" y="1377086"/>
            <a:ext cx="938174" cy="1146658"/>
          </a:xfrm>
          <a:prstGeom prst="arc">
            <a:avLst/>
          </a:prstGeom>
          <a:noFill/>
          <a:ln w="13970">
            <a:solidFill>
              <a:srgbClr val="143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6016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Энэрэл-МАМОЦ эмнэлэг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Сургалтын зорилго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MNS 6211:2019 стандартад туссан унаж бэртэх эрсдэлийн үнэлгээ, сэргийлэлтийн үндсэн ойлголтыг ажилчдад танилцуулна.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96112" y="18836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828800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Стандартын зорилго, хэрэглэх хүрээ, баримт бичгийн ач холбогдлыг ойлгох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896112" y="24688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414016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Дотоод болон гадаад эрсдэлт хүчин зүйлсийг ялгаж таних</a:t>
            </a:r>
            <a:endParaRPr lang="en-US" sz="1680" dirty="0"/>
          </a:p>
        </p:txBody>
      </p:sp>
      <p:sp>
        <p:nvSpPr>
          <p:cNvPr id="10" name="Shape 8"/>
          <p:cNvSpPr/>
          <p:nvPr/>
        </p:nvSpPr>
        <p:spPr>
          <a:xfrm>
            <a:off x="896112" y="305409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999232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Насанд хүрэгч болон хүүхдийн үнэлгээний үндсэн бүтэц, босго оноог мэдэх</a:t>
            </a:r>
            <a:endParaRPr lang="en-US" sz="1680" dirty="0"/>
          </a:p>
        </p:txBody>
      </p:sp>
      <p:sp>
        <p:nvSpPr>
          <p:cNvPr id="12" name="Shape 10"/>
          <p:cNvSpPr/>
          <p:nvPr/>
        </p:nvSpPr>
        <p:spPr>
          <a:xfrm>
            <a:off x="896112" y="363931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584448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Орчны үнэлгээ, тэмдэглэгээ, хяналтын хуудасны хэрэгцээг ойлгох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896112" y="42245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4169664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Урьдчилан сэргийлэх арга хэмжээг тасаг, нэгжийн өдөр тутмын ажилтай холбох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Стандартын ерөнхий мэдээлэл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MNS 6211:2019 нь унаж бэртэх эрсдэлийг үнэлэх, түүнээс урьдчилан сэргийлэх арга сэдэвтэй Монгол Улсын стандарт.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 бичиг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31343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9689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542032"/>
            <a:ext cx="448056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Стандартын дугаар: MNS 6211:2019</a:t>
            </a:r>
            <a:endParaRPr lang="en-US" sz="1460" dirty="0"/>
          </a:p>
        </p:txBody>
      </p:sp>
      <p:sp>
        <p:nvSpPr>
          <p:cNvPr id="10" name="Shape 8"/>
          <p:cNvSpPr/>
          <p:nvPr/>
        </p:nvSpPr>
        <p:spPr>
          <a:xfrm>
            <a:off x="91440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17520"/>
            <a:ext cx="448056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Нэр: Унаж бэртэх эрсдэлийг үнэлэх, түүнээс урьдчилан сэргийлэх арга</a:t>
            </a:r>
            <a:endParaRPr lang="en-US" sz="1460" dirty="0"/>
          </a:p>
        </p:txBody>
      </p:sp>
      <p:sp>
        <p:nvSpPr>
          <p:cNvPr id="12" name="Shape 10"/>
          <p:cNvSpPr/>
          <p:nvPr/>
        </p:nvSpPr>
        <p:spPr>
          <a:xfrm>
            <a:off x="914400" y="3547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493008"/>
            <a:ext cx="448056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Албан хэвлэл, 2019 он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6172200" y="18745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Сургалтын хэрэглээ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72200" y="231343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59689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542032"/>
            <a:ext cx="438912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Эмнэлгийн орчны уналтын эрсдэлийг нэг мөр ойлгох</a:t>
            </a:r>
            <a:endParaRPr lang="en-US" sz="1460" dirty="0"/>
          </a:p>
        </p:txBody>
      </p:sp>
      <p:sp>
        <p:nvSpPr>
          <p:cNvPr id="18" name="Shape 16"/>
          <p:cNvSpPr/>
          <p:nvPr/>
        </p:nvSpPr>
        <p:spPr>
          <a:xfrm>
            <a:off x="621792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017520"/>
            <a:ext cx="438912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 ба сэргийлэлтийг тасаг, нэгжийн ажилд холбох</a:t>
            </a:r>
            <a:endParaRPr lang="en-US" sz="1460" dirty="0"/>
          </a:p>
        </p:txBody>
      </p:sp>
      <p:sp>
        <p:nvSpPr>
          <p:cNvPr id="20" name="Shape 18"/>
          <p:cNvSpPr/>
          <p:nvPr/>
        </p:nvSpPr>
        <p:spPr>
          <a:xfrm>
            <a:off x="6217920" y="3547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493008"/>
            <a:ext cx="438912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Дотоод журам, хяналтын хуудас боловсруулахад суурь болгох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Стандартын гол хүрээ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нь зөвхөн оноо бодох арга биш, орчны үнэлгээ, тэмдэглэгээ, сургалт, хяналттай цогц сэргийлэлтийг хамарна.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Эмнэлгийн гадна болон дотоод орчинд явганаас унах эрсдэлийг үнэлэх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Эмчлүүлэгчийн биеийн байдал, өдөр тутмын үйл ажиллагаа, туслах хэрэгслийн хэрэглээг харгалзах</a:t>
            </a:r>
            <a:endParaRPr lang="en-US" sz="158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Эмнэлэгт хэвтэх үеийн анхны үнэлгээ болон нөхцөл өөрчлөгдөх үеийн давтан үнэлгээ хийх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Унаж бэртэхээс сэргийлэх хяналтын хуудас, үйл ажиллагааны төлөвлөгөөг хөтлөх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Эмчлүүлэгч болон ар гэрт нь сэргийлэх зөвлөгөө өгөх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Эрсдэлт хүчин зүйлс: дотоод ба гадаад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Стандартад эрсдэлийг эмчлүүлэгчийн биеийн байдал болон эмнэлгийн орчны нөхцөлтэй холбон авч үздэг.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Дотоод хүчин зүйлс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450592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Алхаа, хөдөлгөөний өөрчлөлт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871216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Яс, үе мөч, булчингийн сулрал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914400" y="334670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291840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Хараа, сонсголын өөрчлөлт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914400" y="37673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712464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Толгой эргэх, байрлалаас хамаарах даралт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914400" y="418795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133088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Эмийн нөлөө, танин мэдэхүйн өөрчлөлт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 хүчин зүйлс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72200" y="226771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450592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Гэрэлтүүлэг хангалтгүй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871216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Шал налуу, гулсамтгай, эвдрэлтэй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6217920" y="334670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291840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Шатны өндөр зөрүүтэй, бариулгүй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6217920" y="37673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712464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Хивс, утас, эд зүйл зорчих хэсэгт саадтай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6217920" y="418795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133088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Дуудах хонх хол, ор хэт өндөр/нам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 хийх ерөнхий дараалал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Стандартын сургалтын гол ойлголт нь эрсдэлийг илрүүлэх, оноогоор түвшин тогтоох, дараа нь сэргийлэх арга хэмжээг эхлүүлэх дараалал юм.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836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828800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Эмчийн анхны үзлэгээр унах эрсдэл эсвэл өмнө унаж байсан өгүүлэмж байгаа эсэхийг тогтооно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487168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Сувилагч насанд тохирсон үнэлгээний хуудсаар эрсдэлийг үнэлнэ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868680" y="32004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145536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Анхны үнэлгээгээр эрсдэлгүй байсан ч биеийн байдал өөрчлөгдөх, тасаг хооронд шилжих, ээлж солигдох үед давтан үнэлнэ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868680" y="385876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803904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Өндөр эрсдэл илэрвэл хяналтын хуудас болон сэргийлэх үйл ажиллагааны төлөвлөгөөг хөтөлнө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Насанд хүрэгчдийн үнэлгээ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ба түүнээс дээш насныхны үнэлгээ нь 6 үзүүлэлтээс бүрдэж, нийлбэр оноо нь эрсдэлийн түвшинг илэрхийлнэ.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үзүүлэлт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26151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560320"/>
            <a:ext cx="448056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Сүүлийн хугацаанд унаж байсан эсэх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960120" y="303580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980944"/>
            <a:ext cx="448056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Олон өвчний онош</a:t>
            </a:r>
            <a:endParaRPr lang="en-US" sz="1460" dirty="0"/>
          </a:p>
        </p:txBody>
      </p:sp>
      <p:sp>
        <p:nvSpPr>
          <p:cNvPr id="11" name="Shape 9"/>
          <p:cNvSpPr/>
          <p:nvPr/>
        </p:nvSpPr>
        <p:spPr>
          <a:xfrm>
            <a:off x="960120" y="345643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401568"/>
            <a:ext cx="448056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Туслах хэрэгсэл ашиглах</a:t>
            </a:r>
            <a:endParaRPr lang="en-US" sz="1460" dirty="0"/>
          </a:p>
        </p:txBody>
      </p:sp>
      <p:sp>
        <p:nvSpPr>
          <p:cNvPr id="13" name="Shape 11"/>
          <p:cNvSpPr/>
          <p:nvPr/>
        </p:nvSpPr>
        <p:spPr>
          <a:xfrm>
            <a:off x="960120" y="38770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822192"/>
            <a:ext cx="448056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Судсаар эмчилгээ</a:t>
            </a:r>
            <a:endParaRPr lang="en-US" sz="1460" dirty="0"/>
          </a:p>
        </p:txBody>
      </p:sp>
      <p:sp>
        <p:nvSpPr>
          <p:cNvPr id="15" name="Shape 13"/>
          <p:cNvSpPr/>
          <p:nvPr/>
        </p:nvSpPr>
        <p:spPr>
          <a:xfrm>
            <a:off x="960120" y="42976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242816"/>
            <a:ext cx="448056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Алхах чадвар</a:t>
            </a:r>
            <a:endParaRPr lang="en-US" sz="1460" dirty="0"/>
          </a:p>
        </p:txBody>
      </p:sp>
      <p:sp>
        <p:nvSpPr>
          <p:cNvPr id="17" name="Shape 15"/>
          <p:cNvSpPr/>
          <p:nvPr/>
        </p:nvSpPr>
        <p:spPr>
          <a:xfrm>
            <a:off x="960120" y="471830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4663440"/>
            <a:ext cx="448056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Ухаан санаа, танин мэдэхүй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6629400" y="233172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≥25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046720" y="2487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оноо бол унаж бэртэхээс сэргийлэх хяналтын хуудас, арга хэмжээг эхлүүлнэ.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629400" y="384962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3794760"/>
            <a:ext cx="4114800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Өөрчлөх боломжгүй өндөр эрсдэл илэрвэл онооноос үл хамааран эрсдэлтэй бүлэгт хамруулна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Хүүхдийн үнэлгээ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0-16 насныхны үнэлгээ нь хүүхдийн нас, онош, орчин, ажилбар, эмийн хэрэглээ зэрэг олон хүчин зүйлийг хамарна.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үзүүлэлт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2542032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487168"/>
            <a:ext cx="475488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960120" y="2944368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889504"/>
            <a:ext cx="475488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Хүйс</a:t>
            </a:r>
            <a:endParaRPr lang="en-US" sz="1460" dirty="0"/>
          </a:p>
        </p:txBody>
      </p:sp>
      <p:sp>
        <p:nvSpPr>
          <p:cNvPr id="11" name="Shape 9"/>
          <p:cNvSpPr/>
          <p:nvPr/>
        </p:nvSpPr>
        <p:spPr>
          <a:xfrm>
            <a:off x="960120" y="334670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291840"/>
            <a:ext cx="475488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Онош</a:t>
            </a:r>
            <a:endParaRPr lang="en-US" sz="1460" dirty="0"/>
          </a:p>
        </p:txBody>
      </p:sp>
      <p:sp>
        <p:nvSpPr>
          <p:cNvPr id="13" name="Shape 11"/>
          <p:cNvSpPr/>
          <p:nvPr/>
        </p:nvSpPr>
        <p:spPr>
          <a:xfrm>
            <a:off x="960120" y="3749040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694176"/>
            <a:ext cx="475488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Танин мэдэхүйн өөрчлөлт</a:t>
            </a:r>
            <a:endParaRPr lang="en-US" sz="1460" dirty="0"/>
          </a:p>
        </p:txBody>
      </p:sp>
      <p:sp>
        <p:nvSpPr>
          <p:cNvPr id="15" name="Shape 13"/>
          <p:cNvSpPr/>
          <p:nvPr/>
        </p:nvSpPr>
        <p:spPr>
          <a:xfrm>
            <a:off x="960120" y="4151376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096512"/>
            <a:ext cx="475488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Орчны хүчин зүйл</a:t>
            </a:r>
            <a:endParaRPr lang="en-US" sz="1460" dirty="0"/>
          </a:p>
        </p:txBody>
      </p:sp>
      <p:sp>
        <p:nvSpPr>
          <p:cNvPr id="17" name="Shape 15"/>
          <p:cNvSpPr/>
          <p:nvPr/>
        </p:nvSpPr>
        <p:spPr>
          <a:xfrm>
            <a:off x="960120" y="4553712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4498848"/>
            <a:ext cx="475488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Мэс ажилбар / тайвшруулалт / мэдээгүйжүүлэг</a:t>
            </a:r>
            <a:endParaRPr lang="en-US" sz="1460" dirty="0"/>
          </a:p>
        </p:txBody>
      </p:sp>
      <p:sp>
        <p:nvSpPr>
          <p:cNvPr id="19" name="Shape 17"/>
          <p:cNvSpPr/>
          <p:nvPr/>
        </p:nvSpPr>
        <p:spPr>
          <a:xfrm>
            <a:off x="960120" y="4956048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4901184"/>
            <a:ext cx="475488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Эмийн хэрэглээ</a:t>
            </a:r>
            <a:endParaRPr lang="en-US" sz="1460" dirty="0"/>
          </a:p>
        </p:txBody>
      </p:sp>
      <p:sp>
        <p:nvSpPr>
          <p:cNvPr id="21" name="Text 19"/>
          <p:cNvSpPr/>
          <p:nvPr/>
        </p:nvSpPr>
        <p:spPr>
          <a:xfrm>
            <a:off x="6629400" y="233172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8046720" y="2487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оноо бол унаж бэртэхээс сэргийлэх хяналтын хуудас, арга хэмжээг эхлүүлнэ.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629400" y="384962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5432" y="3794760"/>
            <a:ext cx="4114800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Яаралтай тусламж, нярай болон хүүхдийн эрчимт эмчилгээний нөхцөлд онооноос үл хамаарах эрсдэлийг анхаарна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Орчны үнэлгээ ба байгууллагын хяналт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MNS 6211:2019 нь эмчлүүлэгчийн үнэлгээнээс гадна эмнэлгийн гадаад, дотоод ээлтэй орчны үнэлгээг чухалчилдаг.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836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828800"/>
            <a:ext cx="987552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Гадаад, дотоод ээлтэй орчны үнэлгээг тогтмол хийж, холбогдох арга хэмжээг авна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487168"/>
            <a:ext cx="987552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Нийтийн талбай, шат, шал, гэрэлтүүлэг, ариун цэврийн өрөө, бариул, замын саадыг шалгана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868680" y="32004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145536"/>
            <a:ext cx="987552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Тасаг, нэгжид унах эрсдэлээс сэргийлэх тэмдэг, тэмдэглэгээг байршуулна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868680" y="385876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803904"/>
            <a:ext cx="987552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Эвдрэл, гулгаа, тээглэх саад, утас, хивс зэрэг эрсдэлийг илэрсэн даруй арилгана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Урьдчилан сэргийлэх арга хэмжээ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Өндөр эрсдэлтэй үйлчлүүлэгчид хяналтын хуудас хөтөлж, олон талт хамгаалалтыг хамтад нь хэрэгжүүлнэ.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87552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эрсдэлтэйг эмч, сувилагч, тасгийн ажилтнуудад мэдээлэх</a:t>
            </a:r>
            <a:endParaRPr lang="en-US" sz="156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87552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Шаардлагатай үед танин тодруулах бугуйн зүүлт, анхааруулах тэмдэглэгээ хэрэглэх</a:t>
            </a:r>
            <a:endParaRPr lang="en-US" sz="156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87552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Ор, хонх, туслах хэрэгсэл, гэрэлтүүлэг, шал, бие засах өрөөний аюулгүй байдлыг хангах</a:t>
            </a:r>
            <a:endParaRPr lang="en-US" sz="156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87552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Эмчлүүлэгч болон ар гэрийнхэнд унахаас сэргийлэх тухай зөвлөгөө өгөх</a:t>
            </a:r>
            <a:endParaRPr lang="en-US" sz="156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87552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Тасаг хооронд шилжүүлэх, зөөвөрлөх үед мэдээллийг “гараас гарт” дамжуулах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Баримтжуулалт ба хэрэгжилтийн хяналт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Стандартын шаардлага сургалтаар дуусахгүй. Үнэлгээ, сэргийлэлт, орчны сайжруулалт баримтжиж байж хэрэгжилт баталгаажна.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Үнэлгээний хуудас: насанд хүрэгч болон хүүхдийн онооны үнэлгээ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Орчны үнэлгээний хуудас: гадаад, дотоод орчны аюулгүй байдлын шалгалт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Унаж бэртэхээс сэргийлэх хяналтын хуудас: арга хэмжээ тогтмол хийгдэж байгаа эсэх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 ажиллагааны төлөвлөгөө: эрсдэлийг бууруулах хариу арга хэмжээ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Тохиолдлын бүртгэл: уналт гарсан бол шалтгаан, гэмтэл, нөлөөлсөн хүчин зүйлийг бүртгэх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MNS 6211:2019 “Унаж бэртэх эрсдэлийг үнэлэх, түүнээс урьдчилан сэргийлэх арга”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3A"/>
          </a:solidFill>
          <a:ln w="12700">
            <a:solidFill>
              <a:srgbClr val="143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MNS 6211:2019-ийн гол санаа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3232" y="1371600"/>
            <a:ext cx="1143000" cy="0"/>
          </a:xfrm>
          <a:prstGeom prst="line">
            <a:avLst/>
          </a:prstGeom>
          <a:noFill/>
          <a:ln w="63500">
            <a:solidFill>
              <a:srgbClr val="F4C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9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874520"/>
            <a:ext cx="914400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 нь эмчлүүлэгчийн биеийн байдал ба орчны нөхцөлийн нийлбэр эрсдэл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55117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496312"/>
            <a:ext cx="914400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 нь насны бүлгээс хамаарч өөр бүтэцтэй: насанд хүрэгч 6, хүүхэд 7 үзүүлэлттэй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17296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118104"/>
            <a:ext cx="914400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Өндөр эрсдэл илэрвэл хяналтын хуудас, тэмдэглэгээ, орчны хамгаалалт, сургалт хамт хэрэгжинэ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739896"/>
            <a:ext cx="914400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Орчны үнэлгээ тогтмол хийгдэж, илэрсэн саадыг шуурхай арилгана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441655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361688"/>
            <a:ext cx="914400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Сэргийлэлт бол нэг хүний ажил биш, тасаг нэгжийн нийтлэг дадал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 rot="2700000">
            <a:off x="9921240" y="1664208"/>
            <a:ext cx="878738" cy="1190549"/>
          </a:xfrm>
          <a:prstGeom prst="teardrop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920000">
            <a:off x="10190531" y="1890979"/>
            <a:ext cx="510235" cy="623621"/>
          </a:xfrm>
          <a:prstGeom prst="arc">
            <a:avLst/>
          </a:prstGeom>
          <a:noFill/>
          <a:ln w="13970">
            <a:solidFill>
              <a:srgbClr val="143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8064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Зорилго: унаж бэртэх эрсдэлийг эрт илрүүлж, урьдчилан сэргийлэх.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64240" y="623620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н загва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1011</Words>
  <Application>Microsoft Office PowerPoint</Application>
  <PresentationFormat>Өргөн дэлгэц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Ашигласан үсгийн хэв</vt:lpstr>
      </vt:variant>
      <vt:variant>
        <vt:i4>1</vt:i4>
      </vt:variant>
      <vt:variant>
        <vt:lpstr>Загвар</vt:lpstr>
      </vt:variant>
      <vt:variant>
        <vt:i4>1</vt:i4>
      </vt:variant>
      <vt:variant>
        <vt:lpstr>Үзүүлэнгийн гарчгууд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</vt:vector>
  </TitlesOfParts>
  <Company>Энэрэл-МАМОЦ эмнэлэг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Унаж бэртэх эрсдэлийг үнэлэх, түүнээс урьдчилан сэргийлэх арга</dc:title>
  <dc:subject>MNS 6211:2019 стандартын сургалт</dc:subject>
  <dc:creator>Codex</dc:creator>
  <cp:lastModifiedBy>enerelmamotsdoc@gmail.com</cp:lastModifiedBy>
  <cp:revision>1</cp:revision>
  <dcterms:created xsi:type="dcterms:W3CDTF">2026-05-07T04:36:54Z</dcterms:created>
  <dcterms:modified xsi:type="dcterms:W3CDTF">2026-05-07T04:41:20Z</dcterms:modified>
</cp:coreProperties>
</file>